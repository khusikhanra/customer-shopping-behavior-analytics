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Data</c:v>
                </c:pt>
              </c:strCache>
            </c:strRef>
          </c:tx>
          <c:spPr>
            <a:solidFill>
              <a:srgbClr val="1A1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Extract</c:v>
                  </c:pt>
                  <c:pt idx="1">
                    <c:v>Transform</c:v>
                  </c:pt>
                  <c:pt idx="2">
                    <c:v>Load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20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Clean Data</c:v>
                </c:pt>
              </c:strCache>
            </c:strRef>
          </c:tx>
          <c:spPr>
            <a:solidFill>
              <a:srgbClr val="0D8B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Extract</c:v>
                  </c:pt>
                  <c:pt idx="1">
                    <c:v>Transform</c:v>
                  </c:pt>
                  <c:pt idx="2">
                    <c:v>Load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60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Dimensions Analyzed</c:v>
                </c:pt>
              </c:strCache>
            </c:strRef>
          </c:tx>
          <c:spPr>
            <a:solidFill>
              <a:srgbClr val="0D8B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Segments</c:v>
                  </c:pt>
                  <c:pt idx="1">
                    <c:v>Categories</c:v>
                  </c:pt>
                  <c:pt idx="2">
                    <c:v>States</c:v>
                  </c:pt>
                  <c:pt idx="3">
                    <c:v>Methods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50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0D8B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Overview</c:v>
                  </c:pt>
                  <c:pt idx="1">
                    <c:v>Revenue</c:v>
                  </c:pt>
                  <c:pt idx="2">
                    <c:v>Behavior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70</c:v>
                </c:pt>
                <c:pt idx="2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1A1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Overview</c:v>
                  </c:pt>
                  <c:pt idx="1">
                    <c:v>Revenue</c:v>
                  </c:pt>
                  <c:pt idx="2">
                    <c:v>Behavior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</c:v>
                </c:pt>
                <c:pt idx="1">
                  <c:v>30</c:v>
                </c:pt>
                <c:pt idx="2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 %</c:v>
                </c:pt>
              </c:strCache>
            </c:strRef>
          </c:tx>
          <c:spPr>
            <a:solidFill>
              <a:srgbClr val="0D8B7D"/>
            </a:solidFill>
            <a:effectLst/>
          </c:spPr>
          <c:invertIfNegative val="0"/>
          <c:dLbls>
            <c:numFmt formatCode="0'%'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36-50</c:v>
                  </c:pt>
                  <c:pt idx="3">
                    <c:v>51-65</c:v>
                  </c:pt>
                  <c:pt idx="4">
                    <c:v>65+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14.9</c:v>
                </c:pt>
                <c:pt idx="1">
                  <c:v>19</c:v>
                </c:pt>
                <c:pt idx="2">
                  <c:v>28.2</c:v>
                </c:pt>
                <c:pt idx="3">
                  <c:v>29</c:v>
                </c:pt>
                <c:pt idx="4">
                  <c:v>9</c:v>
                </c:pt>
              </c:numCache>
            </c:numRef>
          </c:val>
        </c:ser>
        <c:dLbls>
          <c:numFmt formatCode="0'%'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 %</c:v>
                </c:pt>
              </c:strCache>
            </c:strRef>
          </c:tx>
          <c:spPr>
            <a:solidFill>
              <a:srgbClr val="0D8B7D"/>
            </a:solidFill>
            <a:effectLst/>
          </c:spPr>
          <c:invertIfNegative val="0"/>
          <c:dLbls>
            <c:numFmt formatCode="0'%'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44.7</c:v>
                </c:pt>
                <c:pt idx="1">
                  <c:v>31.8</c:v>
                </c:pt>
                <c:pt idx="2">
                  <c:v>15.5</c:v>
                </c:pt>
                <c:pt idx="3">
                  <c:v>7.9</c:v>
                </c:pt>
              </c:numCache>
            </c:numRef>
          </c:val>
        </c:ser>
        <c:dLbls>
          <c:numFmt formatCode="0'%'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</c:v>
                </c:pt>
              </c:strCache>
            </c:strRef>
          </c:tx>
          <c:spPr>
            <a:solidFill>
              <a:srgbClr val="0D8B7D"/>
            </a:solidFill>
            <a:effectLst/>
          </c:spPr>
          <c:invertIfNegative val="0"/>
          <c:dLbls>
            <c:numFmt formatCode="0'%'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Fall</c:v>
                  </c:pt>
                  <c:pt idx="1">
                    <c:v>Spring</c:v>
                  </c:pt>
                  <c:pt idx="2">
                    <c:v>Winter</c:v>
                  </c:pt>
                  <c:pt idx="3">
                    <c:v>Summer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25.7</c:v>
                </c:pt>
                <c:pt idx="1">
                  <c:v>25.2</c:v>
                </c:pt>
                <c:pt idx="2">
                  <c:v>25.1</c:v>
                </c:pt>
                <c:pt idx="3">
                  <c:v>23.9</c:v>
                </c:pt>
              </c:numCache>
            </c:numRef>
          </c:val>
        </c:ser>
        <c:dLbls>
          <c:numFmt formatCode="0'%'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Count</c:v>
                </c:pt>
              </c:strCache>
            </c:strRef>
          </c:tx>
          <c:spPr>
            <a:solidFill>
              <a:srgbClr val="0D8B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36-50</c:v>
                  </c:pt>
                  <c:pt idx="3">
                    <c:v>51-65</c:v>
                  </c:pt>
                  <c:pt idx="4">
                    <c:v>65+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571</c:v>
                </c:pt>
                <c:pt idx="1">
                  <c:v>742</c:v>
                </c:pt>
                <c:pt idx="2">
                  <c:v>1111</c:v>
                </c:pt>
                <c:pt idx="3">
                  <c:v>1121</c:v>
                </c:pt>
                <c:pt idx="4">
                  <c:v>355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 Purchase ($)</c:v>
                </c:pt>
              </c:strCache>
            </c:strRef>
          </c:tx>
          <c:spPr>
            <a:solidFill>
              <a:srgbClr val="1A1A2E"/>
            </a:solidFill>
            <a:ln w="25400" cap="flat">
              <a:solidFill>
                <a:srgbClr val="1A1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1A2E"/>
              </a:solidFill>
              <a:ln w="9525" cap="flat">
                <a:solidFill>
                  <a:srgbClr val="1A1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36-50</c:v>
                  </c:pt>
                  <c:pt idx="3">
                    <c:v>51-65</c:v>
                  </c:pt>
                  <c:pt idx="4">
                    <c:v>65+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60.65</c:v>
                </c:pt>
                <c:pt idx="1">
                  <c:v>59.76</c:v>
                </c:pt>
                <c:pt idx="2">
                  <c:v>59.07</c:v>
                </c:pt>
                <c:pt idx="3">
                  <c:v>60.28</c:v>
                </c:pt>
                <c:pt idx="4">
                  <c:v>58.88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D8B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104.3</c:v>
                </c:pt>
                <c:pt idx="1">
                  <c:v>74.2</c:v>
                </c:pt>
                <c:pt idx="2">
                  <c:v>36.1</c:v>
                </c:pt>
                <c:pt idx="3">
                  <c:v>18.5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Share (%)</c:v>
                </c:pt>
              </c:strCache>
            </c:strRef>
          </c:tx>
          <c:spPr>
            <a:solidFill>
              <a:srgbClr val="1A1A2E"/>
            </a:solidFill>
            <a:ln w="25400" cap="flat">
              <a:solidFill>
                <a:srgbClr val="1A1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1A2E"/>
              </a:solidFill>
              <a:ln w="9525" cap="flat">
                <a:solidFill>
                  <a:srgbClr val="1A1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44.7</c:v>
                </c:pt>
                <c:pt idx="1">
                  <c:v>31.8</c:v>
                </c:pt>
                <c:pt idx="2">
                  <c:v>15.5</c:v>
                </c:pt>
                <c:pt idx="3">
                  <c:v>7.9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D8B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Every 3 Months</c:v>
                  </c:pt>
                  <c:pt idx="1">
                    <c:v>Annually</c:v>
                  </c:pt>
                  <c:pt idx="2">
                    <c:v>Quarterly</c:v>
                  </c:pt>
                  <c:pt idx="3">
                    <c:v>Monthly</c:v>
                  </c:pt>
                  <c:pt idx="4">
                    <c:v>Bi-Weekly</c:v>
                  </c:pt>
                  <c:pt idx="5">
                    <c:v>Fortnightly</c:v>
                  </c:pt>
                  <c:pt idx="6">
                    <c:v>Weekly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584</c:v>
                </c:pt>
                <c:pt idx="1">
                  <c:v>572</c:v>
                </c:pt>
                <c:pt idx="2">
                  <c:v>563</c:v>
                </c:pt>
                <c:pt idx="3">
                  <c:v>553</c:v>
                </c:pt>
                <c:pt idx="4">
                  <c:v>547</c:v>
                </c:pt>
                <c:pt idx="5">
                  <c:v>542</c:v>
                </c:pt>
                <c:pt idx="6">
                  <c:v>539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8B7D"/>
              </a:solidFill>
              <a:effectLst/>
            </c:spPr>
          </c:dPt>
          <c:dPt>
            <c:idx val="1"/>
            <c:bubble3D val="0"/>
            <c:spPr>
              <a:solidFill>
                <a:srgbClr val="66B2A8"/>
              </a:solidFill>
              <a:effectLst/>
            </c:spPr>
          </c:dPt>
          <c:dPt>
            <c:idx val="2"/>
            <c:bubble3D val="0"/>
            <c:spPr>
              <a:solidFill>
                <a:srgbClr val="B8DDD8"/>
              </a:solidFill>
              <a:effectLst/>
            </c:spPr>
          </c:dPt>
          <c:dPt>
            <c:idx val="3"/>
            <c:bubble3D val="0"/>
            <c:spPr>
              <a:solidFill>
                <a:srgbClr val="1A1A2E"/>
              </a:solidFill>
              <a:effectLst/>
            </c:spPr>
          </c:dPt>
          <c:dPt>
            <c:idx val="4"/>
            <c:bubble3D val="0"/>
            <c:spPr>
              <a:solidFill>
                <a:srgbClr val="4A9B8E"/>
              </a:solidFill>
              <a:effectLst/>
            </c:spPr>
          </c:dPt>
          <c:dPt>
            <c:idx val="5"/>
            <c:bubble3D val="0"/>
            <c:spPr>
              <a:solidFill>
                <a:srgbClr val="8CC9B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PayPal</c:v>
                </c:pt>
                <c:pt idx="1">
                  <c:v>Credit Card</c:v>
                </c:pt>
                <c:pt idx="2">
                  <c:v>Cash</c:v>
                </c:pt>
                <c:pt idx="3">
                  <c:v>Debit Card</c:v>
                </c:pt>
                <c:pt idx="4">
                  <c:v>Venmo</c:v>
                </c:pt>
                <c:pt idx="5">
                  <c:v>Bank Transfer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677</c:v>
                </c:pt>
                <c:pt idx="1">
                  <c:v>671</c:v>
                </c:pt>
                <c:pt idx="2">
                  <c:v>670</c:v>
                </c:pt>
                <c:pt idx="3">
                  <c:v>636</c:v>
                </c:pt>
                <c:pt idx="4">
                  <c:v>634</c:v>
                </c:pt>
                <c:pt idx="5">
                  <c:v>612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Index</c:v>
                </c:pt>
              </c:strCache>
            </c:strRef>
          </c:tx>
          <c:spPr>
            <a:solidFill>
              <a:srgbClr val="0D8B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Current</c:v>
                  </c:pt>
                  <c:pt idx="1">
                    <c:v>Targeted</c:v>
                  </c:pt>
                  <c:pt idx="2">
                    <c:v>Precision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135</c:v>
                </c:pt>
                <c:pt idx="2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8B7D"/>
              </a:solidFill>
              <a:effectLst/>
            </c:spPr>
          </c:dPt>
          <c:dPt>
            <c:idx val="1"/>
            <c:bubble3D val="0"/>
            <c:spPr>
              <a:solidFill>
                <a:srgbClr val="66B2A8"/>
              </a:solidFill>
              <a:effectLst/>
            </c:spPr>
          </c:dPt>
          <c:dPt>
            <c:idx val="2"/>
            <c:bubble3D val="0"/>
            <c:spPr>
              <a:solidFill>
                <a:srgbClr val="B8DDD8"/>
              </a:solidFill>
              <a:effectLst/>
            </c:spPr>
          </c:dPt>
          <c:dPt>
            <c:idx val="3"/>
            <c:bubble3D val="0"/>
            <c:spPr>
              <a:solidFill>
                <a:srgbClr val="1A1A2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44.7</c:v>
                </c:pt>
                <c:pt idx="1">
                  <c:v>31.8</c:v>
                </c:pt>
                <c:pt idx="2">
                  <c:v>15.5</c:v>
                </c:pt>
                <c:pt idx="3">
                  <c:v>7.9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 Rate %</c:v>
                </c:pt>
              </c:strCache>
            </c:strRef>
          </c:tx>
          <c:spPr>
            <a:solidFill>
              <a:srgbClr val="0D8B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Current</c:v>
                  </c:pt>
                  <c:pt idx="1">
                    <c:v>Target</c:v>
                  </c:pt>
                  <c:pt idx="2">
                    <c:v>Stretch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</c:v>
                </c:pt>
                <c:pt idx="1">
                  <c:v>45</c:v>
                </c:pt>
                <c:pt idx="2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chart" Target="/ppt/charts/chart9.xml"/><Relationship Id="rId4" Type="http://schemas.openxmlformats.org/officeDocument/2006/relationships/chart" Target="/ppt/charts/chart10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chart" Target="/ppt/charts/chart1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6200"/>
            <a:ext cx="8128000" cy="90678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25400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Customer Shopping</a:t>
            </a:r>
            <a:endParaRPr lang="en-US" sz="4400" dirty="0"/>
          </a:p>
          <a:p>
            <a:pPr algn="l">
              <a:lnSpc>
                <a:spcPct val="13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Behavior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89000" y="4445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Data-Driven Insights for Strategic Growth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89000" y="5207000"/>
            <a:ext cx="1778000" cy="0"/>
          </a:xfrm>
          <a:prstGeom prst="straightConnector1">
            <a:avLst/>
          </a:prstGeom>
          <a:noFill/>
          <a:ln w="25400">
            <a:solidFill>
              <a:srgbClr val="FFFFFF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889000" y="5461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Khusi Khanra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9000" y="59055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Business Intelligence &amp; Automation Consultant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| SQL | Power BI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0" y="2286000"/>
            <a:ext cx="6096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200" b="1" dirty="0">
                <a:solidFill>
                  <a:srgbClr val="BBBBB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INSIGHTS</a:t>
            </a: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10668000" y="4318000"/>
            <a:ext cx="2540000" cy="0"/>
          </a:xfrm>
          <a:prstGeom prst="straightConnector1">
            <a:avLst/>
          </a:prstGeom>
          <a:noFill/>
          <a:ln w="25400">
            <a:solidFill>
              <a:srgbClr val="0D8B7D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9398000" y="4699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Transforming 3,900 customer transactions into actionable business intelligence for revenue optimization and strategic decision-making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98000" y="5969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June 2026 | Confidential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Untapped revenue potential lies in understanding customer behavior patterns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5000" y="533400"/>
            <a:ext cx="139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Analysis of 3,900 transactions reveals strategic opportunities across segmentation, targeting, and retention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000" y="1079500"/>
            <a:ext cx="342900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35000" y="1079500"/>
            <a:ext cx="3429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1333500"/>
            <a:ext cx="292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$233K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89000" y="20955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Revenue Analyzed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9000" y="24765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3,900 transactions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9000" y="2819400"/>
            <a:ext cx="292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Comprehensive dataset across 4 product categories and all US states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45000" y="1079500"/>
            <a:ext cx="342900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445000" y="1079500"/>
            <a:ext cx="3429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4" name="Text 12"/>
          <p:cNvSpPr/>
          <p:nvPr/>
        </p:nvSpPr>
        <p:spPr>
          <a:xfrm>
            <a:off x="4699000" y="1333500"/>
            <a:ext cx="292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44.7%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699000" y="20955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Clothing Revenue Share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99000" y="24765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Category leader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99000" y="2819400"/>
            <a:ext cx="292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Clothing dominates with $104.3K in total revenue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55000" y="1079500"/>
            <a:ext cx="342900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255000" y="1079500"/>
            <a:ext cx="3429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9000" y="1333500"/>
            <a:ext cx="292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57.2%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509000" y="20955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Segment (36-65)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9000" y="2476500"/>
            <a:ext cx="292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$133.2K revenue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09000" y="2819400"/>
            <a:ext cx="2921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 36-65 drives the majority of purchase value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2065000" y="1079500"/>
            <a:ext cx="3556000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65000" y="1079500"/>
            <a:ext cx="35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26" name="Text 24"/>
          <p:cNvSpPr/>
          <p:nvPr/>
        </p:nvSpPr>
        <p:spPr>
          <a:xfrm>
            <a:off x="12319000" y="1333500"/>
            <a:ext cx="304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25-40%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12319000" y="2095500"/>
            <a:ext cx="330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Projected Marketing ROI Gain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19000" y="2476500"/>
            <a:ext cx="304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Via precision targeting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19000" y="2819400"/>
            <a:ext cx="304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2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Data-driven segmentation enables efficient reallocation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000" y="3683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000" y="4064000"/>
            <a:ext cx="7112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635000" y="41910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Fragmented purchasing patterns across 7 frequency segments with no unified view of customer lifetime value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Suboptimal targeting: 27% subscription rate indicates significant retention upside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Even payment distribution (6 methods at 15-17% each) suggests channel optimization opportunity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82000" y="3683000"/>
            <a:ext cx="723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82000" y="4064000"/>
            <a:ext cx="7239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8382000" y="4191000"/>
            <a:ext cx="7239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End-to-end analytics pipeline: SQL extraction → Python analysis → Power BI dashboards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Customer segmentation by age, category, and frequency enables precision marketing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Seasonal stability (23-26% per quarter) supports predictable inventory and campaign planning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5000" y="65405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635000" y="66294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9999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Customer Shopping Behavior dataset, 3,900 transactions analyzed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Analytics Pipeline: SQL, Python &amp; Power BI deliver actionable intelligence at scale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5000" y="533400"/>
            <a:ext cx="139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Three-layer architecture transforms raw transaction data into executive-ready strategic insights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000" y="1079500"/>
            <a:ext cx="406400" cy="4064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" y="1079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3000" y="107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22515"/>
                </a:moveTo>
                <a:cubicBezTo>
                  <a:pt x="294731" y="128349"/>
                  <a:pt x="283165" y="133052"/>
                  <a:pt x="271122" y="136803"/>
                </a:cubicBezTo>
                <a:cubicBezTo>
                  <a:pt x="239146" y="146804"/>
                  <a:pt x="197168" y="152400"/>
                  <a:pt x="152400" y="152400"/>
                </a:cubicBezTo>
                <a:cubicBezTo>
                  <a:pt x="107632" y="152400"/>
                  <a:pt x="65586" y="146745"/>
                  <a:pt x="33678" y="136803"/>
                </a:cubicBezTo>
                <a:cubicBezTo>
                  <a:pt x="21703" y="133052"/>
                  <a:pt x="10069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68240" y="219075"/>
                  <a:pt x="152400" y="219075"/>
                </a:cubicBezTo>
                <a:cubicBezTo>
                  <a:pt x="236560" y="219075"/>
                  <a:pt x="304800" y="197763"/>
                  <a:pt x="304800" y="171450"/>
                </a:cubicBezTo>
                <a:lnTo>
                  <a:pt x="304800" y="122515"/>
                </a:lnTo>
                <a:close/>
                <a:moveTo>
                  <a:pt x="304800" y="76200"/>
                </a:moveTo>
                <a:lnTo>
                  <a:pt x="304800" y="47625"/>
                </a:lnTo>
                <a:cubicBezTo>
                  <a:pt x="304800" y="21312"/>
                  <a:pt x="236560" y="0"/>
                  <a:pt x="152400" y="0"/>
                </a:cubicBezTo>
                <a:cubicBezTo>
                  <a:pt x="6824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68240" y="123825"/>
                  <a:pt x="152400" y="123825"/>
                </a:cubicBezTo>
                <a:cubicBezTo>
                  <a:pt x="236560" y="123825"/>
                  <a:pt x="304800" y="102513"/>
                  <a:pt x="304800" y="76200"/>
                </a:cubicBezTo>
                <a:close/>
                <a:moveTo>
                  <a:pt x="271122" y="232053"/>
                </a:moveTo>
                <a:cubicBezTo>
                  <a:pt x="239214" y="241995"/>
                  <a:pt x="197236" y="247650"/>
                  <a:pt x="152400" y="247650"/>
                </a:cubicBezTo>
                <a:cubicBezTo>
                  <a:pt x="107564" y="247650"/>
                  <a:pt x="65586" y="241995"/>
                  <a:pt x="33678" y="232053"/>
                </a:cubicBezTo>
                <a:cubicBezTo>
                  <a:pt x="21703" y="228302"/>
                  <a:pt x="10069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68240" y="304800"/>
                  <a:pt x="152400" y="304800"/>
                </a:cubicBezTo>
                <a:cubicBezTo>
                  <a:pt x="236560" y="304800"/>
                  <a:pt x="304800" y="283488"/>
                  <a:pt x="304800" y="257175"/>
                </a:cubicBezTo>
                <a:lnTo>
                  <a:pt x="304800" y="217765"/>
                </a:lnTo>
                <a:cubicBezTo>
                  <a:pt x="294731" y="223599"/>
                  <a:pt x="283165" y="228302"/>
                  <a:pt x="271122" y="232053"/>
                </a:cubicBezTo>
                <a:close/>
              </a:path>
            </a:pathLst>
          </a:custGeom>
          <a:solidFill>
            <a:srgbClr val="0D8B7D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1016000"/>
            <a:ext cx="254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 Data Layer</a:t>
            </a:r>
            <a:endParaRPr lang="en-US" sz="1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35000" y="1714500"/>
          <a:ext cx="4318000" cy="279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635000" y="4635500"/>
            <a:ext cx="431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Complex queries with JOINs, CTEs, and window functions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Data cleansing: null handling, deduplication, type casting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Feature engineering: RFM scores, cohort grouping, time aggregations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Optimized ETL pipeline for 3,900+ transaction records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69000" y="1079500"/>
            <a:ext cx="406400" cy="4064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13" name="Text 10"/>
          <p:cNvSpPr/>
          <p:nvPr/>
        </p:nvSpPr>
        <p:spPr>
          <a:xfrm>
            <a:off x="5969000" y="1079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77000" y="107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21" y="119360"/>
                </a:moveTo>
                <a:cubicBezTo>
                  <a:pt x="293982" y="100965"/>
                  <a:pt x="284049" y="87094"/>
                  <a:pt x="262890" y="87094"/>
                </a:cubicBezTo>
                <a:lnTo>
                  <a:pt x="235608" y="87094"/>
                </a:lnTo>
                <a:lnTo>
                  <a:pt x="235608" y="115312"/>
                </a:lnTo>
                <a:cubicBezTo>
                  <a:pt x="235608" y="137220"/>
                  <a:pt x="214381" y="155674"/>
                  <a:pt x="190160" y="155674"/>
                </a:cubicBezTo>
                <a:lnTo>
                  <a:pt x="117498" y="155674"/>
                </a:lnTo>
                <a:cubicBezTo>
                  <a:pt x="97631" y="155674"/>
                  <a:pt x="81167" y="170557"/>
                  <a:pt x="81167" y="188000"/>
                </a:cubicBezTo>
                <a:lnTo>
                  <a:pt x="81167" y="248603"/>
                </a:lnTo>
                <a:cubicBezTo>
                  <a:pt x="81167" y="265867"/>
                  <a:pt x="98312" y="275987"/>
                  <a:pt x="117498" y="280928"/>
                </a:cubicBezTo>
                <a:cubicBezTo>
                  <a:pt x="140494" y="286822"/>
                  <a:pt x="162605" y="287893"/>
                  <a:pt x="190160" y="280928"/>
                </a:cubicBezTo>
                <a:cubicBezTo>
                  <a:pt x="208461" y="276285"/>
                  <a:pt x="226491" y="266938"/>
                  <a:pt x="226491" y="248603"/>
                </a:cubicBezTo>
                <a:lnTo>
                  <a:pt x="226491" y="224373"/>
                </a:lnTo>
                <a:lnTo>
                  <a:pt x="153897" y="224373"/>
                </a:lnTo>
                <a:lnTo>
                  <a:pt x="153897" y="216277"/>
                </a:lnTo>
                <a:lnTo>
                  <a:pt x="262890" y="216277"/>
                </a:lnTo>
                <a:cubicBezTo>
                  <a:pt x="284049" y="216277"/>
                  <a:pt x="291873" y="203359"/>
                  <a:pt x="299221" y="184011"/>
                </a:cubicBezTo>
                <a:cubicBezTo>
                  <a:pt x="306841" y="164068"/>
                  <a:pt x="306501" y="144899"/>
                  <a:pt x="299221" y="119360"/>
                </a:cubicBezTo>
                <a:close/>
                <a:moveTo>
                  <a:pt x="194718" y="264735"/>
                </a:moveTo>
                <a:cubicBezTo>
                  <a:pt x="189540" y="265053"/>
                  <a:pt x="184592" y="262816"/>
                  <a:pt x="181893" y="258937"/>
                </a:cubicBezTo>
                <a:cubicBezTo>
                  <a:pt x="179193" y="255057"/>
                  <a:pt x="179193" y="250184"/>
                  <a:pt x="181893" y="246305"/>
                </a:cubicBezTo>
                <a:cubicBezTo>
                  <a:pt x="184592" y="242425"/>
                  <a:pt x="189540" y="240188"/>
                  <a:pt x="194718" y="240506"/>
                </a:cubicBezTo>
                <a:cubicBezTo>
                  <a:pt x="199896" y="240188"/>
                  <a:pt x="204844" y="242425"/>
                  <a:pt x="207544" y="246305"/>
                </a:cubicBezTo>
                <a:cubicBezTo>
                  <a:pt x="210244" y="250184"/>
                  <a:pt x="210244" y="255057"/>
                  <a:pt x="207544" y="258937"/>
                </a:cubicBezTo>
                <a:cubicBezTo>
                  <a:pt x="204844" y="262816"/>
                  <a:pt x="199896" y="265053"/>
                  <a:pt x="194718" y="264735"/>
                </a:cubicBezTo>
                <a:close/>
                <a:moveTo>
                  <a:pt x="114164" y="147697"/>
                </a:moveTo>
                <a:lnTo>
                  <a:pt x="186826" y="147697"/>
                </a:lnTo>
                <a:cubicBezTo>
                  <a:pt x="207033" y="147697"/>
                  <a:pt x="223157" y="133112"/>
                  <a:pt x="223157" y="115372"/>
                </a:cubicBezTo>
                <a:lnTo>
                  <a:pt x="223157" y="54709"/>
                </a:lnTo>
                <a:cubicBezTo>
                  <a:pt x="223157" y="37445"/>
                  <a:pt x="206556" y="24527"/>
                  <a:pt x="186826" y="21610"/>
                </a:cubicBezTo>
                <a:cubicBezTo>
                  <a:pt x="162469" y="18098"/>
                  <a:pt x="136003" y="18276"/>
                  <a:pt x="114164" y="21669"/>
                </a:cubicBezTo>
                <a:cubicBezTo>
                  <a:pt x="83412" y="26432"/>
                  <a:pt x="77833" y="36374"/>
                  <a:pt x="77833" y="54769"/>
                </a:cubicBezTo>
                <a:lnTo>
                  <a:pt x="77833" y="78998"/>
                </a:lnTo>
                <a:lnTo>
                  <a:pt x="150563" y="78998"/>
                </a:lnTo>
                <a:lnTo>
                  <a:pt x="150563" y="87094"/>
                </a:lnTo>
                <a:lnTo>
                  <a:pt x="50551" y="87094"/>
                </a:lnTo>
                <a:cubicBezTo>
                  <a:pt x="29391" y="87094"/>
                  <a:pt x="10886" y="98227"/>
                  <a:pt x="5103" y="119360"/>
                </a:cubicBezTo>
                <a:cubicBezTo>
                  <a:pt x="-1565" y="143589"/>
                  <a:pt x="-1837" y="158710"/>
                  <a:pt x="5103" y="184011"/>
                </a:cubicBezTo>
                <a:cubicBezTo>
                  <a:pt x="10273" y="202823"/>
                  <a:pt x="22588" y="216277"/>
                  <a:pt x="43747" y="216277"/>
                </a:cubicBezTo>
                <a:lnTo>
                  <a:pt x="68716" y="216277"/>
                </a:lnTo>
                <a:lnTo>
                  <a:pt x="68716" y="187226"/>
                </a:lnTo>
                <a:cubicBezTo>
                  <a:pt x="68716" y="166211"/>
                  <a:pt x="89467" y="147697"/>
                  <a:pt x="114164" y="147697"/>
                </a:cubicBezTo>
                <a:close/>
                <a:moveTo>
                  <a:pt x="109674" y="38517"/>
                </a:moveTo>
                <a:cubicBezTo>
                  <a:pt x="117334" y="38517"/>
                  <a:pt x="123553" y="43958"/>
                  <a:pt x="123553" y="50661"/>
                </a:cubicBezTo>
                <a:cubicBezTo>
                  <a:pt x="123553" y="57364"/>
                  <a:pt x="117334" y="62805"/>
                  <a:pt x="109674" y="62805"/>
                </a:cubicBezTo>
                <a:cubicBezTo>
                  <a:pt x="102013" y="62805"/>
                  <a:pt x="95794" y="57364"/>
                  <a:pt x="95794" y="50661"/>
                </a:cubicBezTo>
                <a:cubicBezTo>
                  <a:pt x="95794" y="43958"/>
                  <a:pt x="102013" y="38517"/>
                  <a:pt x="109674" y="38517"/>
                </a:cubicBezTo>
                <a:close/>
              </a:path>
            </a:pathLst>
          </a:custGeom>
          <a:solidFill>
            <a:srgbClr val="0D8B7D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0" y="1016000"/>
            <a:ext cx="254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Analytics</a:t>
            </a:r>
            <a:endParaRPr lang="en-US" sz="16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5969000" y="1714500"/>
          <a:ext cx="4318000" cy="279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5969000" y="4635500"/>
            <a:ext cx="431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pandas/numpy for statistical analysis and aggregation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Customer segmentation via RFM and clustering algorithms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Correlation analysis: age, rating, discount vs. purchase amount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Automated insight generation and reporting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11303000" y="1079500"/>
            <a:ext cx="406400" cy="4064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19" name="Text 15"/>
          <p:cNvSpPr/>
          <p:nvPr/>
        </p:nvSpPr>
        <p:spPr>
          <a:xfrm>
            <a:off x="11303000" y="1079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11811000" y="107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0D8B7D"/>
          </a:solidFill>
          <a:ln/>
        </p:spPr>
      </p:sp>
      <p:sp>
        <p:nvSpPr>
          <p:cNvPr id="21" name="Text 17"/>
          <p:cNvSpPr/>
          <p:nvPr/>
        </p:nvSpPr>
        <p:spPr>
          <a:xfrm>
            <a:off x="12192000" y="1016000"/>
            <a:ext cx="254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Power BI Visuals</a:t>
            </a:r>
            <a:endParaRPr lang="en-US" sz="1600" dirty="0"/>
          </a:p>
        </p:txBody>
      </p:sp>
      <p:graphicFrame>
        <p:nvGraphicFramePr>
          <p:cNvPr id="22" name="Chart 2" descr=""/>
          <p:cNvGraphicFramePr/>
          <p:nvPr/>
        </p:nvGraphicFramePr>
        <p:xfrm>
          <a:off x="11303000" y="1714500"/>
          <a:ext cx="4318000" cy="279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 18"/>
          <p:cNvSpPr/>
          <p:nvPr/>
        </p:nvSpPr>
        <p:spPr>
          <a:xfrm>
            <a:off x="11303000" y="4635500"/>
            <a:ext cx="431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Executive dashboards with cross-filtering and drill-down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Real-time KPI monitoring: revenue, retention, NPS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Interactive filters by demographic, product, time, location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Automated refresh and scheduled distribution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461000" y="1079500"/>
            <a:ext cx="0" cy="622300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25" name="Shape 20"/>
          <p:cNvSpPr/>
          <p:nvPr/>
        </p:nvSpPr>
        <p:spPr>
          <a:xfrm>
            <a:off x="10795000" y="1079500"/>
            <a:ext cx="0" cy="622300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26" name="Shape 21"/>
          <p:cNvSpPr/>
          <p:nvPr/>
        </p:nvSpPr>
        <p:spPr>
          <a:xfrm>
            <a:off x="635000" y="74930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27" name="Text 22"/>
          <p:cNvSpPr/>
          <p:nvPr/>
        </p:nvSpPr>
        <p:spPr>
          <a:xfrm>
            <a:off x="635000" y="75946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9999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Technical architecture documentation, project implementation notes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segmentation and purchase trends reveal four distinct revenue profiles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5000" y="533400"/>
            <a:ext cx="139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Age, category, and seasonal analysis identifies high-value segments and growth opportunities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88000" y="990600"/>
            <a:ext cx="3810000" cy="355600"/>
          </a:xfrm>
          <a:prstGeom prst="rect">
            <a:avLst/>
          </a:prstGeom>
          <a:noFill/>
          <a:ln w="12700">
            <a:solidFill>
              <a:srgbClr val="0D8B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88000" y="990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Revenue Composition 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000" y="1498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7144"/>
                </a:moveTo>
                <a:cubicBezTo>
                  <a:pt x="134802" y="7144"/>
                  <a:pt x="151448" y="27950"/>
                  <a:pt x="151448" y="53578"/>
                </a:cubicBezTo>
                <a:cubicBezTo>
                  <a:pt x="151448" y="79206"/>
                  <a:pt x="134802" y="100013"/>
                  <a:pt x="114300" y="100013"/>
                </a:cubicBezTo>
                <a:cubicBezTo>
                  <a:pt x="93798" y="100013"/>
                  <a:pt x="77153" y="79206"/>
                  <a:pt x="77153" y="53578"/>
                </a:cubicBezTo>
                <a:cubicBezTo>
                  <a:pt x="77153" y="27950"/>
                  <a:pt x="93798" y="7144"/>
                  <a:pt x="114300" y="7144"/>
                </a:cubicBezTo>
                <a:close/>
                <a:moveTo>
                  <a:pt x="34290" y="39291"/>
                </a:moveTo>
                <a:cubicBezTo>
                  <a:pt x="48484" y="39291"/>
                  <a:pt x="60008" y="53695"/>
                  <a:pt x="60008" y="71438"/>
                </a:cubicBezTo>
                <a:cubicBezTo>
                  <a:pt x="60008" y="89180"/>
                  <a:pt x="48484" y="103584"/>
                  <a:pt x="34290" y="103584"/>
                </a:cubicBezTo>
                <a:cubicBezTo>
                  <a:pt x="20096" y="103584"/>
                  <a:pt x="8573" y="89180"/>
                  <a:pt x="8573" y="71438"/>
                </a:cubicBezTo>
                <a:cubicBezTo>
                  <a:pt x="8573" y="53695"/>
                  <a:pt x="20096" y="39291"/>
                  <a:pt x="34290" y="39291"/>
                </a:cubicBezTo>
                <a:close/>
                <a:moveTo>
                  <a:pt x="0" y="185738"/>
                </a:moveTo>
                <a:cubicBezTo>
                  <a:pt x="0" y="154171"/>
                  <a:pt x="20467" y="128588"/>
                  <a:pt x="45720" y="128588"/>
                </a:cubicBezTo>
                <a:cubicBezTo>
                  <a:pt x="50292" y="128588"/>
                  <a:pt x="54721" y="129436"/>
                  <a:pt x="58900" y="130999"/>
                </a:cubicBezTo>
                <a:cubicBezTo>
                  <a:pt x="47149" y="147429"/>
                  <a:pt x="40005" y="169128"/>
                  <a:pt x="40005" y="192881"/>
                </a:cubicBezTo>
                <a:lnTo>
                  <a:pt x="40005" y="200025"/>
                </a:lnTo>
                <a:cubicBezTo>
                  <a:pt x="40005" y="205115"/>
                  <a:pt x="40862" y="209937"/>
                  <a:pt x="42398" y="214313"/>
                </a:cubicBezTo>
                <a:lnTo>
                  <a:pt x="11430" y="214313"/>
                </a:lnTo>
                <a:cubicBezTo>
                  <a:pt x="5108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186202" y="214313"/>
                </a:moveTo>
                <a:cubicBezTo>
                  <a:pt x="187738" y="209937"/>
                  <a:pt x="188595" y="205115"/>
                  <a:pt x="188595" y="200025"/>
                </a:cubicBezTo>
                <a:lnTo>
                  <a:pt x="188595" y="192881"/>
                </a:lnTo>
                <a:cubicBezTo>
                  <a:pt x="188595" y="169128"/>
                  <a:pt x="181451" y="147429"/>
                  <a:pt x="169700" y="130999"/>
                </a:cubicBezTo>
                <a:cubicBezTo>
                  <a:pt x="173879" y="129436"/>
                  <a:pt x="178308" y="128588"/>
                  <a:pt x="182880" y="128588"/>
                </a:cubicBezTo>
                <a:cubicBezTo>
                  <a:pt x="208133" y="128588"/>
                  <a:pt x="228600" y="154171"/>
                  <a:pt x="228600" y="185738"/>
                </a:cubicBezTo>
                <a:lnTo>
                  <a:pt x="228600" y="200025"/>
                </a:lnTo>
                <a:cubicBezTo>
                  <a:pt x="228600" y="207928"/>
                  <a:pt x="223492" y="214313"/>
                  <a:pt x="217170" y="214313"/>
                </a:cubicBezTo>
                <a:lnTo>
                  <a:pt x="186202" y="214313"/>
                </a:lnTo>
                <a:close/>
                <a:moveTo>
                  <a:pt x="168593" y="71438"/>
                </a:moveTo>
                <a:cubicBezTo>
                  <a:pt x="168593" y="53695"/>
                  <a:pt x="180116" y="39291"/>
                  <a:pt x="194310" y="39291"/>
                </a:cubicBezTo>
                <a:cubicBezTo>
                  <a:pt x="208504" y="39291"/>
                  <a:pt x="220028" y="53695"/>
                  <a:pt x="220028" y="71437"/>
                </a:cubicBezTo>
                <a:cubicBezTo>
                  <a:pt x="220028" y="89180"/>
                  <a:pt x="208504" y="103584"/>
                  <a:pt x="194310" y="103584"/>
                </a:cubicBezTo>
                <a:cubicBezTo>
                  <a:pt x="180116" y="103584"/>
                  <a:pt x="168593" y="89180"/>
                  <a:pt x="168593" y="71438"/>
                </a:cubicBezTo>
                <a:close/>
                <a:moveTo>
                  <a:pt x="57150" y="192881"/>
                </a:moveTo>
                <a:cubicBezTo>
                  <a:pt x="57150" y="153412"/>
                  <a:pt x="82725" y="121444"/>
                  <a:pt x="114300" y="121444"/>
                </a:cubicBezTo>
                <a:cubicBezTo>
                  <a:pt x="145875" y="121444"/>
                  <a:pt x="171450" y="153412"/>
                  <a:pt x="171450" y="192881"/>
                </a:cubicBezTo>
                <a:lnTo>
                  <a:pt x="171450" y="200025"/>
                </a:lnTo>
                <a:cubicBezTo>
                  <a:pt x="171450" y="207928"/>
                  <a:pt x="166342" y="214313"/>
                  <a:pt x="160020" y="214313"/>
                </a:cubicBezTo>
                <a:lnTo>
                  <a:pt x="68580" y="214313"/>
                </a:lnTo>
                <a:cubicBezTo>
                  <a:pt x="62258" y="214313"/>
                  <a:pt x="57150" y="207928"/>
                  <a:pt x="57150" y="200025"/>
                </a:cubicBezTo>
                <a:lnTo>
                  <a:pt x="57150" y="192881"/>
                </a:lnTo>
                <a:close/>
              </a:path>
            </a:pathLst>
          </a:custGeom>
          <a:solidFill>
            <a:srgbClr val="0D8B7D"/>
          </a:solidFill>
          <a:ln/>
        </p:spPr>
      </p:sp>
      <p:sp>
        <p:nvSpPr>
          <p:cNvPr id="9" name="Text 7"/>
          <p:cNvSpPr/>
          <p:nvPr/>
        </p:nvSpPr>
        <p:spPr>
          <a:xfrm>
            <a:off x="939800" y="14605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Revenue by Age Group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35000" y="1841500"/>
          <a:ext cx="4572000" cy="1651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635000" y="3581400"/>
            <a:ext cx="457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51-65 age group is the highest-value segment at 29.0%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88000" y="1498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9226" y="17458"/>
                </a:moveTo>
                <a:lnTo>
                  <a:pt x="218043" y="84564"/>
                </a:lnTo>
                <a:cubicBezTo>
                  <a:pt x="229037" y="97110"/>
                  <a:pt x="229037" y="117202"/>
                  <a:pt x="218043" y="129748"/>
                </a:cubicBezTo>
                <a:lnTo>
                  <a:pt x="155972" y="200427"/>
                </a:lnTo>
                <a:cubicBezTo>
                  <a:pt x="152281" y="204624"/>
                  <a:pt x="146248" y="204668"/>
                  <a:pt x="142518" y="200516"/>
                </a:cubicBezTo>
                <a:cubicBezTo>
                  <a:pt x="138787" y="196364"/>
                  <a:pt x="138748" y="189577"/>
                  <a:pt x="142438" y="185380"/>
                </a:cubicBezTo>
                <a:lnTo>
                  <a:pt x="204510" y="114657"/>
                </a:lnTo>
                <a:cubicBezTo>
                  <a:pt x="208161" y="110505"/>
                  <a:pt x="208161" y="103763"/>
                  <a:pt x="204510" y="99611"/>
                </a:cubicBezTo>
                <a:lnTo>
                  <a:pt x="145653" y="32549"/>
                </a:lnTo>
                <a:cubicBezTo>
                  <a:pt x="141962" y="28352"/>
                  <a:pt x="142002" y="21565"/>
                  <a:pt x="145733" y="17413"/>
                </a:cubicBezTo>
                <a:cubicBezTo>
                  <a:pt x="149463" y="13261"/>
                  <a:pt x="155496" y="13305"/>
                  <a:pt x="159187" y="17502"/>
                </a:cubicBezTo>
                <a:close/>
                <a:moveTo>
                  <a:pt x="12740" y="102468"/>
                </a:moveTo>
                <a:lnTo>
                  <a:pt x="12740" y="42863"/>
                </a:lnTo>
                <a:cubicBezTo>
                  <a:pt x="12740" y="27102"/>
                  <a:pt x="24130" y="14288"/>
                  <a:pt x="38140" y="14288"/>
                </a:cubicBezTo>
                <a:lnTo>
                  <a:pt x="91123" y="14288"/>
                </a:lnTo>
                <a:cubicBezTo>
                  <a:pt x="97869" y="14288"/>
                  <a:pt x="104338" y="17279"/>
                  <a:pt x="109101" y="22637"/>
                </a:cubicBezTo>
                <a:lnTo>
                  <a:pt x="166251" y="86931"/>
                </a:lnTo>
                <a:cubicBezTo>
                  <a:pt x="176173" y="98093"/>
                  <a:pt x="176173" y="116175"/>
                  <a:pt x="166251" y="127337"/>
                </a:cubicBezTo>
                <a:lnTo>
                  <a:pt x="113268" y="186943"/>
                </a:lnTo>
                <a:cubicBezTo>
                  <a:pt x="103346" y="198105"/>
                  <a:pt x="87273" y="198105"/>
                  <a:pt x="77351" y="186943"/>
                </a:cubicBezTo>
                <a:lnTo>
                  <a:pt x="20201" y="122649"/>
                </a:lnTo>
                <a:cubicBezTo>
                  <a:pt x="15438" y="117291"/>
                  <a:pt x="12779" y="110014"/>
                  <a:pt x="12779" y="102424"/>
                </a:cubicBezTo>
                <a:close/>
                <a:moveTo>
                  <a:pt x="69890" y="64294"/>
                </a:moveTo>
                <a:cubicBezTo>
                  <a:pt x="69890" y="56408"/>
                  <a:pt x="64199" y="50006"/>
                  <a:pt x="57190" y="50006"/>
                </a:cubicBezTo>
                <a:cubicBezTo>
                  <a:pt x="50180" y="50006"/>
                  <a:pt x="44490" y="56408"/>
                  <a:pt x="44490" y="64294"/>
                </a:cubicBezTo>
                <a:cubicBezTo>
                  <a:pt x="44490" y="72179"/>
                  <a:pt x="50180" y="78581"/>
                  <a:pt x="57190" y="78581"/>
                </a:cubicBezTo>
                <a:cubicBezTo>
                  <a:pt x="64199" y="78581"/>
                  <a:pt x="69890" y="72179"/>
                  <a:pt x="69890" y="64294"/>
                </a:cubicBezTo>
                <a:close/>
              </a:path>
            </a:pathLst>
          </a:custGeom>
          <a:solidFill>
            <a:srgbClr val="0D8B7D"/>
          </a:solidFill>
          <a:ln/>
        </p:spPr>
      </p:sp>
      <p:sp>
        <p:nvSpPr>
          <p:cNvPr id="13" name="Text 10"/>
          <p:cNvSpPr/>
          <p:nvPr/>
        </p:nvSpPr>
        <p:spPr>
          <a:xfrm>
            <a:off x="5892800" y="14605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Revenue by Category</a:t>
            </a:r>
            <a:endParaRPr lang="en-US" sz="13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5588000" y="1841500"/>
          <a:ext cx="4572000" cy="1651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5588000" y="3581400"/>
            <a:ext cx="457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Clothing dominates with 44.7% — $104.3K total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10668000" y="990600"/>
            <a:ext cx="3048000" cy="355600"/>
          </a:xfrm>
          <a:prstGeom prst="rect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668000" y="990600"/>
            <a:ext cx="304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Seasonal Revenue Distribution</a:t>
            </a:r>
            <a:endParaRPr lang="en-US" sz="1200" dirty="0"/>
          </a:p>
        </p:txBody>
      </p:sp>
      <p:graphicFrame>
        <p:nvGraphicFramePr>
          <p:cNvPr id="18" name="Chart 2" descr=""/>
          <p:cNvGraphicFramePr/>
          <p:nvPr/>
        </p:nvGraphicFramePr>
        <p:xfrm>
          <a:off x="10541000" y="1422400"/>
          <a:ext cx="5334000" cy="2476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Shape 14"/>
          <p:cNvSpPr/>
          <p:nvPr/>
        </p:nvSpPr>
        <p:spPr>
          <a:xfrm>
            <a:off x="635000" y="40386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dash"/>
            <a:headEnd type="none"/>
            <a:tailEnd type="none"/>
          </a:ln>
        </p:spPr>
      </p:sp>
      <p:sp>
        <p:nvSpPr>
          <p:cNvPr id="20" name="Shape 15"/>
          <p:cNvSpPr/>
          <p:nvPr/>
        </p:nvSpPr>
        <p:spPr>
          <a:xfrm>
            <a:off x="5588000" y="4140200"/>
            <a:ext cx="3810000" cy="355600"/>
          </a:xfrm>
          <a:prstGeom prst="rect">
            <a:avLst/>
          </a:prstGeom>
          <a:noFill/>
          <a:ln w="12700">
            <a:solidFill>
              <a:srgbClr val="0D8B7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588000" y="4140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Segment Performance Matrix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4648200"/>
          <a:ext cx="14986000" cy="3937000"/>
        </p:xfrm>
        <a:graphic>
          <a:graphicData uri="http://schemas.openxmlformats.org/drawingml/2006/table">
            <a:tbl>
              <a:tblPr/>
              <a:tblGrid>
                <a:gridCol w="1798320"/>
                <a:gridCol w="1798320"/>
                <a:gridCol w="2098040"/>
                <a:gridCol w="2098040"/>
                <a:gridCol w="2098040"/>
                <a:gridCol w="2697480"/>
                <a:gridCol w="2397760"/>
              </a:tblGrid>
              <a:tr h="3937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Segment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Customers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Revenue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Avg Purchase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Share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 Insight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Action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18-25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571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$34.6K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$60.65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14.9%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Highest avg purchase; growth opportunity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Targeted digital campaigns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26-35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742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$44.3K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$59.76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19.0%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Largest mid-value segment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Loyalty program + upsell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36-50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1,111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$65.6K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$59.07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28.2%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Volume-driven core segment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Premium product push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51-65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1,121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$67.6K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$60.28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29.0%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Highest revenue + avg purchase value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VIP retention program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65+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355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$20.9K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$58.88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9.0%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Smallest segment; niche targeting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Simplified UX focus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Power BI dashboards enable real-time decision making across all business dimensions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5000" y="533400"/>
            <a:ext cx="139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Cross-filtering, drill-through, and what-if scenario modeling transform static reports into strategic tools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5000" y="1016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 1: Customer Demographics Overview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35000" y="1460500"/>
          <a:ext cx="71120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35000" y="4597400"/>
            <a:ext cx="711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Insight: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36-50 and 51-65 segments combine for 57.2% of customers and 57.2% of revenue — the clear priority targets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382000" y="1016000"/>
            <a:ext cx="723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 2: Revenue &amp; Category Performance</a:t>
            </a:r>
            <a:endParaRPr lang="en-US" sz="16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8382000" y="1460500"/>
          <a:ext cx="72390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8382000" y="4597400"/>
            <a:ext cx="723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Insight: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Clothing + Accessories = 76.5% of revenue; cross-sell bundling between these categories presents immediate upside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35000" y="54610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dash"/>
            <a:headEnd type="none"/>
            <a:tailEnd type="none"/>
          </a:ln>
        </p:spPr>
      </p:sp>
      <p:sp>
        <p:nvSpPr>
          <p:cNvPr id="13" name="Text 9"/>
          <p:cNvSpPr/>
          <p:nvPr/>
        </p:nvSpPr>
        <p:spPr>
          <a:xfrm>
            <a:off x="635000" y="5651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Dashboard 3: Purchase Frequency &amp; Payment Analysis</a:t>
            </a:r>
            <a:endParaRPr lang="en-US" sz="1600" dirty="0"/>
          </a:p>
        </p:txBody>
      </p:sp>
      <p:graphicFrame>
        <p:nvGraphicFramePr>
          <p:cNvPr id="14" name="Chart 2" descr=""/>
          <p:cNvGraphicFramePr/>
          <p:nvPr/>
        </p:nvGraphicFramePr>
        <p:xfrm>
          <a:off x="635000" y="6096000"/>
          <a:ext cx="7366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5" name="Chart 3" descr=""/>
          <p:cNvGraphicFramePr/>
          <p:nvPr/>
        </p:nvGraphicFramePr>
        <p:xfrm>
          <a:off x="8382000" y="6096000"/>
          <a:ext cx="7239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Shape 10"/>
          <p:cNvSpPr/>
          <p:nvPr/>
        </p:nvSpPr>
        <p:spPr>
          <a:xfrm>
            <a:off x="635000" y="85090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17" name="Text 11"/>
          <p:cNvSpPr/>
          <p:nvPr/>
        </p:nvSpPr>
        <p:spPr>
          <a:xfrm>
            <a:off x="635000" y="86106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9999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Power BI dashboards built on Customer Shopping Behavior dataset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business impact: Data-driven recommendations deliver measurable ROI across three pillars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5000" y="533400"/>
            <a:ext cx="139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Marketing optimization, category expansion, and retention strategy combine for 25-35% efficiency gains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000" y="1079500"/>
            <a:ext cx="406400" cy="4064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" y="1079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016000"/>
            <a:ext cx="330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Marketing Optimization</a:t>
            </a:r>
            <a:endParaRPr lang="en-US" sz="16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35000" y="1714500"/>
          <a:ext cx="4318000" cy="254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35000" y="4381500"/>
            <a:ext cx="431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Target 36-65 segments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57.2% revenue concentration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Reallocate spend from low-ROI channels to high-value age groups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Fall peak (25.7%) warrants concentrated promotional focus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Projected: 25-35%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marketing efficiency gain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69000" y="1079500"/>
            <a:ext cx="406400" cy="4064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12" name="Text 9"/>
          <p:cNvSpPr/>
          <p:nvPr/>
        </p:nvSpPr>
        <p:spPr>
          <a:xfrm>
            <a:off x="5969000" y="1079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77000" y="1016000"/>
            <a:ext cx="330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Category Expansion</a:t>
            </a:r>
            <a:endParaRPr lang="en-US" sz="16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5969000" y="1714500"/>
          <a:ext cx="4318000" cy="254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5969000" y="4381500"/>
            <a:ext cx="431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Clothing leadership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(44.7%) supports premium line launch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Accessories cross-sell with Clothing: bundle opportunity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Footwear (15.5%) and Outerwear (7.9%) have expansion room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Projected: 10-15%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margin improvement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03000" y="1079500"/>
            <a:ext cx="406400" cy="4064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17" name="Text 13"/>
          <p:cNvSpPr/>
          <p:nvPr/>
        </p:nvSpPr>
        <p:spPr>
          <a:xfrm>
            <a:off x="11303000" y="1079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1811000" y="1016000"/>
            <a:ext cx="330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Retention Strategy</a:t>
            </a:r>
            <a:endParaRPr lang="en-US" sz="1600" dirty="0"/>
          </a:p>
        </p:txBody>
      </p:sp>
      <p:graphicFrame>
        <p:nvGraphicFramePr>
          <p:cNvPr id="19" name="Chart 2" descr=""/>
          <p:cNvGraphicFramePr/>
          <p:nvPr/>
        </p:nvGraphicFramePr>
        <p:xfrm>
          <a:off x="11303000" y="1714500"/>
          <a:ext cx="4318000" cy="254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 15"/>
          <p:cNvSpPr/>
          <p:nvPr/>
        </p:nvSpPr>
        <p:spPr>
          <a:xfrm>
            <a:off x="11303000" y="4381500"/>
            <a:ext cx="431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Subscription at 27%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significant upside to 45-55%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Loyalty program targeting 36-50 and 51-65 segments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Monthly purchasers (553) are prime retention candidates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Projected: 15-20%</a:t>
            </a:r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revenue uplift from retention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61000" y="1079500"/>
            <a:ext cx="0" cy="622300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22" name="Shape 17"/>
          <p:cNvSpPr/>
          <p:nvPr/>
        </p:nvSpPr>
        <p:spPr>
          <a:xfrm>
            <a:off x="10795000" y="1079500"/>
            <a:ext cx="0" cy="622300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23" name="Shape 18"/>
          <p:cNvSpPr/>
          <p:nvPr/>
        </p:nvSpPr>
        <p:spPr>
          <a:xfrm>
            <a:off x="635000" y="7493000"/>
            <a:ext cx="14986000" cy="889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19"/>
          <p:cNvSpPr/>
          <p:nvPr/>
        </p:nvSpPr>
        <p:spPr>
          <a:xfrm>
            <a:off x="889000" y="7594600"/>
            <a:ext cx="1447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Combined Impact: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Marketing efficiency (25-35%) + Category mix optimization (10-15%) + Retention uplift (15-20%) =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50-70% total revenue opportunity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data-driven execution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635000" y="85090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26" name="Text 21"/>
          <p:cNvSpPr/>
          <p:nvPr/>
        </p:nvSpPr>
        <p:spPr>
          <a:xfrm>
            <a:off x="635000" y="86106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9999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 Analysis-derived projections based on dataset patterns and industry benchmarks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Let's partner: Transform your data into competitive advantage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5000" y="533400"/>
            <a:ext cx="139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 deliver end-to-end analytics solutions that bridge the gap between raw data and boardroom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70000" y="2286000"/>
            <a:ext cx="13716000" cy="0"/>
          </a:xfrm>
          <a:prstGeom prst="straightConnector1">
            <a:avLst/>
          </a:prstGeom>
          <a:noFill/>
          <a:ln w="38100">
            <a:solidFill>
              <a:srgbClr val="0D8B7D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1778000" y="2159000"/>
            <a:ext cx="254000" cy="2540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1714500"/>
            <a:ext cx="1524000" cy="3556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714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476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Discovery Call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8500" y="28575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8500" y="3276600"/>
            <a:ext cx="241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Assess your data landscape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Identify key business questions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Define success metrics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53000" y="2159000"/>
            <a:ext cx="254000" cy="2540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14" name="Shape 12"/>
          <p:cNvSpPr/>
          <p:nvPr/>
        </p:nvSpPr>
        <p:spPr>
          <a:xfrm>
            <a:off x="4318000" y="1714500"/>
            <a:ext cx="1524000" cy="3556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5" name="Text 13"/>
          <p:cNvSpPr/>
          <p:nvPr/>
        </p:nvSpPr>
        <p:spPr>
          <a:xfrm>
            <a:off x="4318000" y="1714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18000" y="2476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Pilot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73500" y="28575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Deliver Insights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73500" y="3276600"/>
            <a:ext cx="241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Rapid analysis on priority question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Interactive dashboard prototype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Initial recommendations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28000" y="2159000"/>
            <a:ext cx="254000" cy="2540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3000" y="1714500"/>
            <a:ext cx="1524000" cy="3556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21" name="Text 19"/>
          <p:cNvSpPr/>
          <p:nvPr/>
        </p:nvSpPr>
        <p:spPr>
          <a:xfrm>
            <a:off x="7493000" y="1714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29500" y="24765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 Implementation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48500" y="28575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Scale &amp; Automate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8500" y="3276600"/>
            <a:ext cx="2413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Complete dashboard suite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Automated reporting pipeline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Team training &amp; handover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3208000" y="2794000"/>
            <a:ext cx="2032000" cy="2921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13398500" y="2895600"/>
            <a:ext cx="165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Why Me?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398500" y="3251200"/>
            <a:ext cx="16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Full-Stack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3398500" y="3657600"/>
            <a:ext cx="165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 + Python + Power BI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398500" y="4089400"/>
            <a:ext cx="16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3398500" y="4495800"/>
            <a:ext cx="165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Rapid deployment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398500" y="4953000"/>
            <a:ext cx="165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Proven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3398500" y="53594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Consulting-grade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5000" y="53340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635000" y="552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Engagement Models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5000" y="5969000"/>
            <a:ext cx="469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Project-Based Analysis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Fixed-scope deep dive on a specific business question with deliverables in 2-4 weeks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715000" y="5969000"/>
            <a:ext cx="469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Ongoing Analytics Partnership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Monthly retainer for continuous dashboard maintenance, reporting, and strategic insights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795000" y="5969000"/>
            <a:ext cx="482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Automation &amp; Training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 automated pipelines and train your team for self-service analytics capability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5000" y="7112000"/>
            <a:ext cx="14986000" cy="1016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9" name="Text 37"/>
          <p:cNvSpPr/>
          <p:nvPr/>
        </p:nvSpPr>
        <p:spPr>
          <a:xfrm>
            <a:off x="1016000" y="72136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Khusi Khanra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|  Business Intelligence &amp; Automation Consultant  |  Python | SQL | Power BI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Available for consulting engagements and strategic partnerships  |  Let's turn your data into decisions.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35000" y="8255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9999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Classification: Confidential | Prepared for strategic partnership discussions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62000" y="4064000"/>
            <a:ext cx="1778000" cy="0"/>
          </a:xfrm>
          <a:prstGeom prst="straightConnector1">
            <a:avLst/>
          </a:prstGeom>
          <a:noFill/>
          <a:ln w="25400">
            <a:solidFill>
              <a:srgbClr val="FFFFFF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4318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Let's turn your data into decisions.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Khusi Khanra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12000" y="2540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112000" y="3111500"/>
            <a:ext cx="3810000" cy="0"/>
          </a:xfrm>
          <a:prstGeom prst="straightConnector1">
            <a:avLst/>
          </a:prstGeom>
          <a:noFill/>
          <a:ln w="25400">
            <a:solidFill>
              <a:srgbClr val="0D8B7D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7112000" y="3429000"/>
            <a:ext cx="825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Schedule a Discovery Call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Discuss your data landscape and priority business questions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Pilot Analysis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See measurable insights from your data within 2 weeks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Full Implementation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Deploy automated dashboards and strategic recommendations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12000" y="6096000"/>
            <a:ext cx="8255000" cy="1270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366000" y="6248400"/>
            <a:ext cx="7747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Khusi Khanra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Business Intelligence &amp; Automation Consultant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| SQL | Power BI | Data Strategy | Automation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Let's build something impactful together.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6000" y="9067800"/>
            <a:ext cx="10160000" cy="76200"/>
          </a:xfrm>
          <a:prstGeom prst="rect">
            <a:avLst/>
          </a:prstGeom>
          <a:solidFill>
            <a:srgbClr val="0D8B7D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Customer Shopping Behavior Analysis</dc:subject>
  <dc:creator>Kimi</dc:creator>
  <cp:lastModifiedBy>Kimi</cp:lastModifiedBy>
  <cp:revision>1</cp:revision>
  <dcterms:created xsi:type="dcterms:W3CDTF">2026-06-13T02:06:39Z</dcterms:created>
  <dcterms:modified xsi:type="dcterms:W3CDTF">2026-06-13T02:06:39Z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{"Label":"Customer Shopping Behavior Analysis","ContentProducer":"001191110108MACG2KBH8F10000","ProduceID":"19ebeae3-1e92-805b-8000-0000a3f4405a","ReservedCode1":"","ContentPropagator":"001191110108MACG2KBH8F20000","PropagateID":"19ebeabe-26c2-8410-8000-096269d21de2","ReservedCode2":""}</vt:lpwstr>
  </property>
</Properties>
</file>